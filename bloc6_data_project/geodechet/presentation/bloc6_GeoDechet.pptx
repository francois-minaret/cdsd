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Inter" panose="020B0502030000000004" pitchFamily="34" charset="0"/>
      <p:regular r:id="rId14"/>
      <p:bold r:id="rId15"/>
      <p:italic r:id="rId16"/>
      <p:boldItalic r:id="rId17"/>
    </p:embeddedFont>
    <p:embeddedFont>
      <p:font typeface="Inter Medium" panose="020B0604020202020204" charset="0"/>
      <p:regular r:id="rId18"/>
      <p:bold r:id="rId19"/>
      <p:italic r:id="rId20"/>
      <p:boldItalic r:id="rId21"/>
    </p:embeddedFont>
    <p:embeddedFont>
      <p:font typeface="Inter SemiBold" panose="020B0604020202020204" charset="0"/>
      <p:regular r:id="rId22"/>
      <p:bold r:id="rId23"/>
      <p:italic r:id="rId24"/>
      <p:boldItalic r:id="rId25"/>
    </p:embeddedFont>
    <p:embeddedFont>
      <p:font typeface="Noto Sans Symbols" panose="020B0604020202020204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gHPfoSwm99NWqku7MQt+azquc0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E167BF-1186-42BA-9062-C246E6C4D521}" v="5" dt="2025-10-20T12:18:19.7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8" y="1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customschemas.google.com/relationships/presentationmetadata" Target="metadata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çois MINARET" userId="adb28e3b60489278" providerId="LiveId" clId="{FD47C505-F23A-492F-98D9-621DCA942E01}"/>
    <pc:docChg chg="custSel addSld delSld modSld">
      <pc:chgData name="François MINARET" userId="adb28e3b60489278" providerId="LiveId" clId="{FD47C505-F23A-492F-98D9-621DCA942E01}" dt="2025-10-20T12:18:36.129" v="51" actId="1076"/>
      <pc:docMkLst>
        <pc:docMk/>
      </pc:docMkLst>
      <pc:sldChg chg="addSp delSp modSp mod">
        <pc:chgData name="François MINARET" userId="adb28e3b60489278" providerId="LiveId" clId="{FD47C505-F23A-492F-98D9-621DCA942E01}" dt="2025-10-20T08:38:22.964" v="34" actId="1076"/>
        <pc:sldMkLst>
          <pc:docMk/>
          <pc:sldMk cId="0" sldId="257"/>
        </pc:sldMkLst>
        <pc:picChg chg="add mod">
          <ac:chgData name="François MINARET" userId="adb28e3b60489278" providerId="LiveId" clId="{FD47C505-F23A-492F-98D9-621DCA942E01}" dt="2025-10-20T08:38:22.964" v="34" actId="1076"/>
          <ac:picMkLst>
            <pc:docMk/>
            <pc:sldMk cId="0" sldId="257"/>
            <ac:picMk id="3" creationId="{7CDB853E-0691-BAD2-22E5-1EB3F4854E62}"/>
          </ac:picMkLst>
        </pc:picChg>
        <pc:picChg chg="del">
          <ac:chgData name="François MINARET" userId="adb28e3b60489278" providerId="LiveId" clId="{FD47C505-F23A-492F-98D9-621DCA942E01}" dt="2025-10-20T08:38:07.918" v="30" actId="478"/>
          <ac:picMkLst>
            <pc:docMk/>
            <pc:sldMk cId="0" sldId="257"/>
            <ac:picMk id="65" creationId="{00000000-0000-0000-0000-000000000000}"/>
          </ac:picMkLst>
        </pc:picChg>
        <pc:picChg chg="del">
          <ac:chgData name="François MINARET" userId="adb28e3b60489278" providerId="LiveId" clId="{FD47C505-F23A-492F-98D9-621DCA942E01}" dt="2025-10-20T08:38:06.996" v="29" actId="478"/>
          <ac:picMkLst>
            <pc:docMk/>
            <pc:sldMk cId="0" sldId="257"/>
            <ac:picMk id="66" creationId="{00000000-0000-0000-0000-000000000000}"/>
          </ac:picMkLst>
        </pc:picChg>
      </pc:sldChg>
      <pc:sldChg chg="modSp mod">
        <pc:chgData name="François MINARET" userId="adb28e3b60489278" providerId="LiveId" clId="{FD47C505-F23A-492F-98D9-621DCA942E01}" dt="2025-10-20T07:30:10.339" v="28" actId="20577"/>
        <pc:sldMkLst>
          <pc:docMk/>
          <pc:sldMk cId="0" sldId="259"/>
        </pc:sldMkLst>
        <pc:spChg chg="mod">
          <ac:chgData name="François MINARET" userId="adb28e3b60489278" providerId="LiveId" clId="{FD47C505-F23A-492F-98D9-621DCA942E01}" dt="2025-10-20T07:30:10.339" v="28" actId="20577"/>
          <ac:spMkLst>
            <pc:docMk/>
            <pc:sldMk cId="0" sldId="259"/>
            <ac:spMk id="85" creationId="{00000000-0000-0000-0000-000000000000}"/>
          </ac:spMkLst>
        </pc:spChg>
      </pc:sldChg>
      <pc:sldChg chg="addSp delSp modSp mod">
        <pc:chgData name="François MINARET" userId="adb28e3b60489278" providerId="LiveId" clId="{FD47C505-F23A-492F-98D9-621DCA942E01}" dt="2025-10-20T07:29:05.598" v="26" actId="14100"/>
        <pc:sldMkLst>
          <pc:docMk/>
          <pc:sldMk cId="0" sldId="260"/>
        </pc:sldMkLst>
        <pc:picChg chg="add mod">
          <ac:chgData name="François MINARET" userId="adb28e3b60489278" providerId="LiveId" clId="{FD47C505-F23A-492F-98D9-621DCA942E01}" dt="2025-10-20T07:28:54.920" v="23" actId="14100"/>
          <ac:picMkLst>
            <pc:docMk/>
            <pc:sldMk cId="0" sldId="260"/>
            <ac:picMk id="9" creationId="{3506C416-E006-C2BE-BC3F-C525B4334917}"/>
          </ac:picMkLst>
        </pc:picChg>
        <pc:picChg chg="add mod">
          <ac:chgData name="François MINARET" userId="adb28e3b60489278" providerId="LiveId" clId="{FD47C505-F23A-492F-98D9-621DCA942E01}" dt="2025-10-20T07:29:05.598" v="26" actId="14100"/>
          <ac:picMkLst>
            <pc:docMk/>
            <pc:sldMk cId="0" sldId="260"/>
            <ac:picMk id="11" creationId="{9509AB69-E128-375A-53A8-6FE0F64D8985}"/>
          </ac:picMkLst>
        </pc:picChg>
        <pc:picChg chg="del">
          <ac:chgData name="François MINARET" userId="adb28e3b60489278" providerId="LiveId" clId="{FD47C505-F23A-492F-98D9-621DCA942E01}" dt="2025-10-20T07:28:23.583" v="11" actId="478"/>
          <ac:picMkLst>
            <pc:docMk/>
            <pc:sldMk cId="0" sldId="260"/>
            <ac:picMk id="99" creationId="{00000000-0000-0000-0000-000000000000}"/>
          </ac:picMkLst>
        </pc:picChg>
        <pc:picChg chg="del">
          <ac:chgData name="François MINARET" userId="adb28e3b60489278" providerId="LiveId" clId="{FD47C505-F23A-492F-98D9-621DCA942E01}" dt="2025-10-20T07:28:24.698" v="12" actId="478"/>
          <ac:picMkLst>
            <pc:docMk/>
            <pc:sldMk cId="0" sldId="260"/>
            <ac:picMk id="100" creationId="{00000000-0000-0000-0000-000000000000}"/>
          </ac:picMkLst>
        </pc:picChg>
        <pc:picChg chg="del">
          <ac:chgData name="François MINARET" userId="adb28e3b60489278" providerId="LiveId" clId="{FD47C505-F23A-492F-98D9-621DCA942E01}" dt="2025-10-20T07:14:39.188" v="3" actId="478"/>
          <ac:picMkLst>
            <pc:docMk/>
            <pc:sldMk cId="0" sldId="260"/>
            <ac:picMk id="103" creationId="{00000000-0000-0000-0000-000000000000}"/>
          </ac:picMkLst>
        </pc:picChg>
        <pc:picChg chg="del">
          <ac:chgData name="François MINARET" userId="adb28e3b60489278" providerId="LiveId" clId="{FD47C505-F23A-492F-98D9-621DCA942E01}" dt="2025-10-20T07:14:38.113" v="2" actId="478"/>
          <ac:picMkLst>
            <pc:docMk/>
            <pc:sldMk cId="0" sldId="260"/>
            <ac:picMk id="104" creationId="{00000000-0000-0000-0000-000000000000}"/>
          </ac:picMkLst>
        </pc:picChg>
      </pc:sldChg>
      <pc:sldChg chg="addSp delSp modSp mod">
        <pc:chgData name="François MINARET" userId="adb28e3b60489278" providerId="LiveId" clId="{FD47C505-F23A-492F-98D9-621DCA942E01}" dt="2025-10-20T09:09:57.112" v="43" actId="14100"/>
        <pc:sldMkLst>
          <pc:docMk/>
          <pc:sldMk cId="0" sldId="261"/>
        </pc:sldMkLst>
        <pc:picChg chg="add mod">
          <ac:chgData name="François MINARET" userId="adb28e3b60489278" providerId="LiveId" clId="{FD47C505-F23A-492F-98D9-621DCA942E01}" dt="2025-10-20T09:09:57.112" v="43" actId="14100"/>
          <ac:picMkLst>
            <pc:docMk/>
            <pc:sldMk cId="0" sldId="261"/>
            <ac:picMk id="3" creationId="{9E8EC3E6-BA13-ED3C-226D-506998EA02E6}"/>
          </ac:picMkLst>
        </pc:picChg>
        <pc:picChg chg="del">
          <ac:chgData name="François MINARET" userId="adb28e3b60489278" providerId="LiveId" clId="{FD47C505-F23A-492F-98D9-621DCA942E01}" dt="2025-10-20T09:09:08.825" v="37" actId="478"/>
          <ac:picMkLst>
            <pc:docMk/>
            <pc:sldMk cId="0" sldId="261"/>
            <ac:picMk id="114" creationId="{00000000-0000-0000-0000-000000000000}"/>
          </ac:picMkLst>
        </pc:picChg>
        <pc:picChg chg="del mod">
          <ac:chgData name="François MINARET" userId="adb28e3b60489278" providerId="LiveId" clId="{FD47C505-F23A-492F-98D9-621DCA942E01}" dt="2025-10-20T09:09:07.885" v="36" actId="478"/>
          <ac:picMkLst>
            <pc:docMk/>
            <pc:sldMk cId="0" sldId="261"/>
            <ac:picMk id="115" creationId="{00000000-0000-0000-0000-000000000000}"/>
          </ac:picMkLst>
        </pc:picChg>
      </pc:sldChg>
      <pc:sldChg chg="addSp delSp modSp mod">
        <pc:chgData name="François MINARET" userId="adb28e3b60489278" providerId="LiveId" clId="{FD47C505-F23A-492F-98D9-621DCA942E01}" dt="2025-10-20T12:18:24.386" v="49" actId="14100"/>
        <pc:sldMkLst>
          <pc:docMk/>
          <pc:sldMk cId="0" sldId="262"/>
        </pc:sldMkLst>
        <pc:picChg chg="add mod">
          <ac:chgData name="François MINARET" userId="adb28e3b60489278" providerId="LiveId" clId="{FD47C505-F23A-492F-98D9-621DCA942E01}" dt="2025-10-20T12:18:24.386" v="49" actId="14100"/>
          <ac:picMkLst>
            <pc:docMk/>
            <pc:sldMk cId="0" sldId="262"/>
            <ac:picMk id="3" creationId="{AD40B76D-1916-176E-50F0-B553D35CE0FB}"/>
          </ac:picMkLst>
        </pc:picChg>
        <pc:picChg chg="del">
          <ac:chgData name="François MINARET" userId="adb28e3b60489278" providerId="LiveId" clId="{FD47C505-F23A-492F-98D9-621DCA942E01}" dt="2025-10-20T12:18:08.915" v="44" actId="478"/>
          <ac:picMkLst>
            <pc:docMk/>
            <pc:sldMk cId="0" sldId="262"/>
            <ac:picMk id="123" creationId="{00000000-0000-0000-0000-000000000000}"/>
          </ac:picMkLst>
        </pc:picChg>
      </pc:sldChg>
      <pc:sldChg chg="delSp modSp mod delAnim">
        <pc:chgData name="François MINARET" userId="adb28e3b60489278" providerId="LiveId" clId="{FD47C505-F23A-492F-98D9-621DCA942E01}" dt="2025-10-20T12:18:36.129" v="51" actId="1076"/>
        <pc:sldMkLst>
          <pc:docMk/>
          <pc:sldMk cId="0" sldId="263"/>
        </pc:sldMkLst>
        <pc:spChg chg="mod">
          <ac:chgData name="François MINARET" userId="adb28e3b60489278" providerId="LiveId" clId="{FD47C505-F23A-492F-98D9-621DCA942E01}" dt="2025-10-20T12:18:36.129" v="51" actId="1076"/>
          <ac:spMkLst>
            <pc:docMk/>
            <pc:sldMk cId="0" sldId="263"/>
            <ac:spMk id="131" creationId="{00000000-0000-0000-0000-000000000000}"/>
          </ac:spMkLst>
        </pc:spChg>
        <pc:picChg chg="del">
          <ac:chgData name="François MINARET" userId="adb28e3b60489278" providerId="LiveId" clId="{FD47C505-F23A-492F-98D9-621DCA942E01}" dt="2025-10-20T12:18:31.190" v="50" actId="478"/>
          <ac:picMkLst>
            <pc:docMk/>
            <pc:sldMk cId="0" sldId="263"/>
            <ac:picMk id="132" creationId="{00000000-0000-0000-0000-000000000000}"/>
          </ac:picMkLst>
        </pc:picChg>
      </pc:sldChg>
      <pc:sldChg chg="new del">
        <pc:chgData name="François MINARET" userId="adb28e3b60489278" providerId="LiveId" clId="{FD47C505-F23A-492F-98D9-621DCA942E01}" dt="2025-10-20T06:22:40.089" v="1" actId="47"/>
        <pc:sldMkLst>
          <pc:docMk/>
          <pc:sldMk cId="674062678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-FR" sz="1000" b="1" i="0" u="none" strike="noStrike" cap="none">
                <a:solidFill>
                  <a:srgbClr val="159CB1"/>
                </a:solidFill>
                <a:latin typeface="Arial"/>
                <a:ea typeface="Arial"/>
                <a:cs typeface="Arial"/>
                <a:sym typeface="Arial"/>
              </a:rPr>
              <a:t>Utilité du projet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-FR" sz="1000" b="0" i="0" u="none" strike="noStrike" cap="none">
                <a:solidFill>
                  <a:srgbClr val="159CB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fr-FR"/>
              <a:t>Outil d’aide à la décision pour les collectivités locales (ex. : anticiper les volumes de déchets à gérer).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-FR" sz="1000" b="0" i="0" u="none" strike="noStrike" cap="none">
                <a:solidFill>
                  <a:srgbClr val="159CB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fr-FR"/>
              <a:t>Optimisation des coûts de collecte et de traitement des déchets.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-FR" sz="1000" b="0" i="0" u="none" strike="noStrike" cap="none">
                <a:solidFill>
                  <a:srgbClr val="159CB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fr-FR"/>
              <a:t>Contribution à la planification territoriale (déploiement de déchetteries, bennes spécifiques…).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-FR" sz="1000" b="0" i="0" u="none" strike="noStrike" cap="none">
                <a:solidFill>
                  <a:srgbClr val="159CB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fr-FR"/>
              <a:t>Favorise une meilleure sensibilisation des citoyens et des entreprises à leur production de déchets.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-FR"/>
              <a:t>Réduire les coûts  → Collecte et Traitement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-FR"/>
              <a:t>Planification territoriale optimisée → vision globale d'aménagement durable.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-FR"/>
              <a:t>Politiques publiques efficaces → encouragement du tri et de la valorisation, 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-FR"/>
              <a:t>Sensibilisation citoyenne renforcée</a:t>
            </a:r>
            <a:r>
              <a:rPr lang="fr-FR" b="1"/>
              <a:t> →</a:t>
            </a:r>
            <a:r>
              <a:rPr lang="fr-FR"/>
              <a:t>acceder a des données concrètes 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b="1">
                <a:solidFill>
                  <a:schemeClr val="dk2"/>
                </a:solidFill>
              </a:rPr>
              <a:t>Objectif </a:t>
            </a:r>
            <a:r>
              <a:rPr lang="fr-FR" sz="1000" b="1">
                <a:solidFill>
                  <a:schemeClr val="dk2"/>
                </a:solidFill>
              </a:rPr>
              <a:t>: </a:t>
            </a:r>
            <a:r>
              <a:rPr lang="fr-FR">
                <a:solidFill>
                  <a:schemeClr val="dk2"/>
                </a:solidFill>
              </a:rPr>
              <a:t>Définir comment les caractéristiques démographiques et économiques influencent la production des différents types de déchets en France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800" b="1">
                <a:solidFill>
                  <a:srgbClr val="00717D"/>
                </a:solidFill>
              </a:rPr>
              <a:t>Utilité du projet</a:t>
            </a:r>
            <a:br>
              <a:rPr lang="fr-FR" sz="1400">
                <a:solidFill>
                  <a:schemeClr val="dk1"/>
                </a:solidFill>
              </a:rPr>
            </a:br>
            <a:br>
              <a:rPr lang="fr-FR" sz="1400">
                <a:solidFill>
                  <a:schemeClr val="dk1"/>
                </a:solidFill>
              </a:rPr>
            </a:br>
            <a:r>
              <a:rPr lang="fr-FR" sz="1400">
                <a:solidFill>
                  <a:schemeClr val="dk1"/>
                </a:solidFill>
              </a:rPr>
              <a:t>- </a:t>
            </a:r>
            <a:r>
              <a:rPr lang="fr-FR" sz="1800">
                <a:solidFill>
                  <a:schemeClr val="dk1"/>
                </a:solidFill>
              </a:rPr>
              <a:t>Optimisation des coûts de collecte et de traitement des déchets.</a:t>
            </a:r>
            <a:br>
              <a:rPr lang="fr-FR" sz="1800">
                <a:solidFill>
                  <a:schemeClr val="dk1"/>
                </a:solidFill>
              </a:rPr>
            </a:br>
            <a:r>
              <a:rPr lang="fr-FR" sz="1800">
                <a:solidFill>
                  <a:schemeClr val="dk1"/>
                </a:solidFill>
              </a:rPr>
              <a:t>- Aide à la réduction des déchets</a:t>
            </a:r>
            <a:br>
              <a:rPr lang="fr-FR" sz="1800">
                <a:solidFill>
                  <a:schemeClr val="dk1"/>
                </a:solidFill>
              </a:rPr>
            </a:br>
            <a:r>
              <a:rPr lang="fr-FR" sz="1800">
                <a:solidFill>
                  <a:schemeClr val="dk1"/>
                </a:solidFill>
              </a:rPr>
              <a:t>- Appui pour les politiques publiques en matière de tri et de valorisation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None/>
            </a:pPr>
            <a:r>
              <a:rPr lang="fr-FR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Sources ADEME </a:t>
            </a:r>
            <a:r>
              <a:rPr lang="fr-FR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fr-FR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3 fichiers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None/>
            </a:pPr>
            <a:r>
              <a:rPr lang="fr-FR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SINOE42_nomenclature_regroupement_déchets.csv (1,5k lignes / 6 col)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None/>
            </a:pPr>
            <a:r>
              <a:rPr lang="fr-FR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SINOE15_DestinationDechetterieParTraitements.xlsx (2k lignes / 7 col)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None/>
            </a:pPr>
            <a:r>
              <a:rPr lang="fr-FR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SINOE14_TonnageDecheterieParTypeDechet.xlsx (3,4k lignes / 10 col)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1100" b="1"/>
              <a:t>Sources ADEME </a:t>
            </a:r>
            <a:r>
              <a:rPr lang="fr-FR" sz="1100"/>
              <a:t>– </a:t>
            </a:r>
            <a:r>
              <a:rPr lang="fr-FR" sz="1100" b="1"/>
              <a:t>3 fichiers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fr-FR" sz="1100"/>
              <a:t>SINOE42_nomenclature_regroupement_déchets.csv (1,5k lignes / 6 col)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fr-FR" sz="1100"/>
              <a:t>SINOE15_DestinationDechetterieParTraitements.xlsx (2k lignes / 7 col)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fr-FR" sz="1100"/>
              <a:t>SINOE14_TonnageDecheterieParTypeDechet.xlsx (3,4k lignes / 10 col)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Df final prend en compte les années impair de 2009 à 2021, nous avons donc étudié 7 années (2009, 2011,2013, 2015, 2017, 2019, 2021). </a:t>
            </a:r>
            <a:r>
              <a:rPr lang="fr-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typologies de déchets : Déchets verts, Déblais et Gravat, Encombrant, Matériaux recyclables, Autres Déchets</a:t>
            </a:r>
            <a:br>
              <a:rPr lang="fr-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fr-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fr-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secteurs d’entreprises et nbre de salariés par secteur : Agricole, Service, Industrie</a:t>
            </a:r>
            <a:br>
              <a:rPr lang="fr-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fr-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fr-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 catégories socioprofessionnelles </a:t>
            </a:r>
            <a:r>
              <a:rPr lang="fr-FR" sz="900"/>
              <a:t>csp1_agriculteurs, csp2_artisans_commerçant_chef_entreprises, </a:t>
            </a:r>
            <a:r>
              <a:rPr lang="fr-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csp3_cadres_professions_intellectuelles, csp4_professions_intermédiaires, csp5_employés, csp6_ouvriers, csp7_retraités, csp8_sans_activité</a:t>
            </a:r>
            <a:br>
              <a:rPr lang="fr-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fr-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fr-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tranches d’âge : </a:t>
            </a:r>
            <a:r>
              <a:rPr lang="fr-FR" sz="900"/>
              <a:t>tranche_age_0-24, tranche_age_25-59, tranche_age_60+</a:t>
            </a:r>
            <a:br>
              <a:rPr lang="fr-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None/>
            </a:pPr>
            <a:r>
              <a:rPr lang="fr-FR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Sources ADEME </a:t>
            </a:r>
            <a:r>
              <a:rPr lang="fr-FR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fr-FR" sz="1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3 fichiers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None/>
            </a:pPr>
            <a:r>
              <a:rPr lang="fr-FR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SINOE42_nomenclature_regroupement_déchets.csv (1,5k lignes / 6 col)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None/>
            </a:pPr>
            <a:r>
              <a:rPr lang="fr-FR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SINOE15_DestinationDechetterieParTraitements.xlsx (2k lignes / 7 col)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None/>
            </a:pPr>
            <a:r>
              <a:rPr lang="fr-FR" sz="16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SINOE14_TonnageDecheterieParTypeDechet.xlsx (3,4k lignes / 10 col)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1100" b="1"/>
              <a:t>Sources ADEME </a:t>
            </a:r>
            <a:r>
              <a:rPr lang="fr-FR" sz="1100"/>
              <a:t>– </a:t>
            </a:r>
            <a:r>
              <a:rPr lang="fr-FR" sz="1100" b="1"/>
              <a:t>3 fichiers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fr-FR" sz="1100"/>
              <a:t>SINOE42_nomenclature_regroupement_déchets.csv (1,5k lignes / 6 col)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fr-FR" sz="1100"/>
              <a:t>SINOE15_DestinationDechetterieParTraitements.xlsx (2k lignes / 7 col)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fr-FR" sz="1100"/>
              <a:t>SINOE14_TonnageDecheterieParTypeDechet.xlsx (3,4k lignes / 10 col)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Df final prend en compte les années impair de 2009 à 2021, nous avons donc étudié 7 années (2009, 2011,2013, 2015, 2017, 2019, 2021). </a:t>
            </a:r>
            <a:r>
              <a:rPr lang="fr-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typologies de déchets : Déchets verts, Déblais et Gravat, Encombrant, Matériaux recyclables, Autres Déchets</a:t>
            </a:r>
            <a:br>
              <a:rPr lang="fr-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fr-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fr-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secteurs d’entreprises et nbre de salariés par secteur : Agricole, Service, Industrie</a:t>
            </a:r>
            <a:br>
              <a:rPr lang="fr-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fr-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fr-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 catégories socioprofessionnelles </a:t>
            </a:r>
            <a:r>
              <a:rPr lang="fr-FR" sz="900"/>
              <a:t>csp1_agriculteurs, csp2_artisans_commerçant_chef_entreprises, </a:t>
            </a:r>
            <a:r>
              <a:rPr lang="fr-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csp3_cadres_professions_intellectuelles, csp4_professions_intermédiaires, csp5_employés, csp6_ouvriers, csp7_retraités, csp8_sans_activité</a:t>
            </a:r>
            <a:br>
              <a:rPr lang="fr-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fr-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fr-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tranches d’âge : </a:t>
            </a:r>
            <a:r>
              <a:rPr lang="fr-FR" sz="900"/>
              <a:t>tranche_age_0-24, tranche_age_25-59, tranche_age_60+</a:t>
            </a:r>
            <a:br>
              <a:rPr lang="fr-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-FR"/>
              <a:t>ici nous analysons comment chaque variable explicative est liée  au typologie de dechet de maniere individuelles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-FR"/>
              <a:t>cette représentation a été faite sur le dataset avant integration du modèle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-FR"/>
              <a:t>parmis les 34 variable explicative on peut voir que les variable les plus correlées sont : nombre entreprise du secteur industrielle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-FR"/>
              <a:t>csp des retraité des ouvriée le nombre d’ent globale et la tranche d’age 60 et +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br>
              <a:rPr lang="fr-FR"/>
            </a:b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-FR" sz="1000" b="1" i="0" u="none" strike="noStrike" cap="none">
                <a:solidFill>
                  <a:srgbClr val="00717D"/>
                </a:solidFill>
                <a:latin typeface="Arial"/>
                <a:ea typeface="Arial"/>
                <a:cs typeface="Arial"/>
                <a:sym typeface="Arial"/>
              </a:rPr>
              <a:t>Modélisation (régression) </a:t>
            </a:r>
            <a:r>
              <a:rPr lang="fr-FR"/>
              <a:t>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Nous avons choisi de générer un modèle pour chaque cible.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le modèle choisi est simple et performant c’est OLS  on peut s’en rendre compte grâce au résultat de la MAPE,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elle mesure l'écart entre les </a:t>
            </a:r>
            <a:r>
              <a:rPr lang="fr-FR" b="1">
                <a:solidFill>
                  <a:schemeClr val="dk1"/>
                </a:solidFill>
              </a:rPr>
              <a:t>valeurs réelles</a:t>
            </a:r>
            <a:r>
              <a:rPr lang="fr-FR">
                <a:solidFill>
                  <a:schemeClr val="dk1"/>
                </a:solidFill>
              </a:rPr>
              <a:t> et les </a:t>
            </a:r>
            <a:r>
              <a:rPr lang="fr-FR" b="1">
                <a:solidFill>
                  <a:schemeClr val="dk1"/>
                </a:solidFill>
              </a:rPr>
              <a:t>valeurs prédites notamment entre les resultat du dataset de test et celui de l'entraînement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Df final prend en compte les années impair de 2009 à 2021, nous avons donc étudié 7 années (2009, 2011,2013, 2015, 2017, 2019, 2021)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-"/>
            </a:pPr>
            <a:r>
              <a:rPr lang="fr-FR"/>
              <a:t>Pistes d’amélioration &amp; Perspectives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-"/>
            </a:pPr>
            <a:r>
              <a:rPr lang="fr-FR"/>
              <a:t>🔬 Données &amp; Modélisation• Variables externes : Ajouter des données sur la météo, le tourisme ou les événements pour expliquer les pics de production de déchets.• Données locales fines : Travailler à un niveau plus granulaire (communes, intercommunalités) pour affiner les prédictions.• Modèles séries temporelles : Intégrer des modèles comme Prophet pour anticiper les évolutions futures.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-"/>
            </a:pPr>
            <a:r>
              <a:rPr lang="fr-FR"/>
              <a:t>🖥️ Application &amp; Visualisation• UX simplifiée (</a:t>
            </a:r>
            <a:r>
              <a:rPr lang="fr-FR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 désigne la qualité globale de l'expérience vécue par un utilisateur lorsqu’il interagit avec un produit, un service ou une interface (ex : site web, application, outil).</a:t>
            </a:r>
            <a:r>
              <a:rPr lang="fr-FR"/>
              <a:t>: Rendre l'application plus intuitive, lisible et agréable à utiliser.• Graphiques interactifs : Ajouter des visualisations dynamiques comme des cartographie pour faciliter l’analyse.• Recommandations auto : Proposer automatiquement des actions concrètes selon les données du territoire.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-"/>
            </a:pPr>
            <a:r>
              <a:rPr lang="fr-FR"/>
              <a:t>📈 Impact &amp; Validation• Tests utilisateurs : Faire tester l'application par des collectivités locales pour valider son utilité et orienter les évolutions.</a:t>
            </a:r>
            <a:br>
              <a:rPr lang="fr-FR"/>
            </a:br>
            <a:r>
              <a:rPr lang="fr-FR"/>
              <a:t>Intégrer des données plus récentes ou en temps réel (création API).</a:t>
            </a:r>
            <a:endParaRPr/>
          </a:p>
          <a:p>
            <a:pPr marL="28575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-"/>
            </a:pPr>
            <a:r>
              <a:rPr lang="fr-FR"/>
              <a:t>Ajouter des facteurs démographiques, touristiques.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-"/>
            </a:pPr>
            <a:r>
              <a:rPr lang="fr-FR"/>
              <a:t>Distinguer les déchets professionnels et ménagers.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-"/>
            </a:pPr>
            <a:r>
              <a:rPr lang="fr-FR"/>
              <a:t>Intégrer des modèles de classification pour prédire les typologies dominantes selon les zones.</a:t>
            </a:r>
            <a:endParaRPr/>
          </a:p>
          <a:p>
            <a:pPr marL="28575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-FR"/>
              <a:t>Ce simulateur constitue une première étape vers une </a:t>
            </a:r>
            <a:r>
              <a:rPr lang="fr-FR" b="1"/>
              <a:t>meilleure anticipation territoriale</a:t>
            </a:r>
            <a:r>
              <a:rPr lang="fr-FR"/>
              <a:t> des volumes de déchets en France. En croisant les typologies de déchets avec des données socio-économiques (CSP, secteurs d’activité, population, caractéristiques démographiques) à l’échelle départementale, il offre une </a:t>
            </a:r>
            <a:r>
              <a:rPr lang="fr-FR" b="1"/>
              <a:t>vision fine et opérationnelle</a:t>
            </a:r>
            <a:r>
              <a:rPr lang="fr-FR"/>
              <a:t> des dynamiques de production de déchets.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-FR"/>
              <a:t>À terme, cet outil pourra être :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-FR" b="1"/>
              <a:t>Enrichi par des données contextuelles</a:t>
            </a:r>
            <a:r>
              <a:rPr lang="fr-FR"/>
              <a:t> (saisonnalité, flux touristiques, politiques locales),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-FR" b="1"/>
              <a:t>Couplé à des visualisations interactives</a:t>
            </a:r>
            <a:r>
              <a:rPr lang="fr-FR"/>
              <a:t> pour faciliter l’analyse territoriale,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-FR" b="1"/>
              <a:t>Intégré aux stratégies locales de transition écologique</a:t>
            </a:r>
            <a:r>
              <a:rPr lang="fr-FR"/>
              <a:t>, notamment pour optimiser la collecte, la valorisation, et le traitement des déchets.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-FR"/>
              <a:t>Il ouvre également la voie à des </a:t>
            </a:r>
            <a:r>
              <a:rPr lang="fr-FR" b="1"/>
              <a:t>décisions publiques mieux informées</a:t>
            </a:r>
            <a:r>
              <a:rPr lang="fr-FR"/>
              <a:t>, et à une </a:t>
            </a:r>
            <a:r>
              <a:rPr lang="fr-FR" b="1"/>
              <a:t>réflexion sur la réduction des coûts</a:t>
            </a:r>
            <a:r>
              <a:rPr lang="fr-FR"/>
              <a:t> liés à la gestion des déchets par typologie. En somme, ce simulateur représente un </a:t>
            </a:r>
            <a:r>
              <a:rPr lang="fr-FR" b="1"/>
              <a:t>levier d’aide à la planification, à la durabilité et à l’innovation territoriale</a:t>
            </a:r>
            <a:r>
              <a:rPr lang="fr-FR"/>
              <a:t> dans le domaine de la gestion des déchets.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" descr="Une image contenant art, Monde, cercle, mosaïque&#10;&#10;Le contenu généré par l’IA peut être incorrect."/>
          <p:cNvPicPr preferRelativeResize="0"/>
          <p:nvPr/>
        </p:nvPicPr>
        <p:blipFill rotWithShape="1">
          <a:blip r:embed="rId3">
            <a:alphaModFix amt="58999"/>
          </a:blip>
          <a:srcRect/>
          <a:stretch/>
        </p:blipFill>
        <p:spPr>
          <a:xfrm>
            <a:off x="2227273" y="-349314"/>
            <a:ext cx="8078679" cy="8078679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"/>
          <p:cNvSpPr txBox="1">
            <a:spLocks noGrp="1"/>
          </p:cNvSpPr>
          <p:nvPr>
            <p:ph type="ctrTitle"/>
          </p:nvPr>
        </p:nvSpPr>
        <p:spPr>
          <a:xfrm>
            <a:off x="816052" y="408062"/>
            <a:ext cx="6478200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fr-FR" sz="5400" b="1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GeoDéchet</a:t>
            </a:r>
            <a:endParaRPr sz="5400" b="1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53" name="Google Shape;53;p1" descr="image pour un projet de Simulateur de production de déchets (par typologies de déchets : dechets verts, deblais gravats, encombrants, matériaux recyclables, ..) par département pour la france. Image 1 of 4"/>
          <p:cNvSpPr/>
          <p:nvPr/>
        </p:nvSpPr>
        <p:spPr>
          <a:xfrm>
            <a:off x="4419600" y="24193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"/>
          <p:cNvSpPr txBox="1"/>
          <p:nvPr/>
        </p:nvSpPr>
        <p:spPr>
          <a:xfrm>
            <a:off x="340296" y="2000875"/>
            <a:ext cx="47727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 i="0" u="none" strike="noStrike" cap="non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Projet réalisé par : </a:t>
            </a:r>
            <a:br>
              <a:rPr lang="fr-FR" sz="1200" b="1" i="0" u="none" strike="noStrike" cap="non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fr-FR" sz="2000" b="1" i="0" u="none" strike="noStrike" cap="non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fr-FR" sz="1400" b="1" i="0" u="none" strike="noStrike" cap="none">
                <a:solidFill>
                  <a:srgbClr val="00717D"/>
                </a:solidFill>
                <a:latin typeface="Inter"/>
                <a:ea typeface="Inter"/>
                <a:cs typeface="Inter"/>
                <a:sym typeface="Inter"/>
              </a:rPr>
              <a:t>Nathalie DEVOGELAERE</a:t>
            </a:r>
            <a:br>
              <a:rPr lang="fr-FR" sz="2000" b="1" i="0" u="none" strike="noStrike" cap="none">
                <a:solidFill>
                  <a:srgbClr val="00717D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fr-FR" sz="1400" b="1" i="0" u="none" strike="noStrike" cap="none">
                <a:solidFill>
                  <a:srgbClr val="00717D"/>
                </a:solidFill>
                <a:latin typeface="Inter"/>
                <a:ea typeface="Inter"/>
                <a:cs typeface="Inter"/>
                <a:sym typeface="Inter"/>
              </a:rPr>
              <a:t>David JAOUI</a:t>
            </a:r>
            <a:br>
              <a:rPr lang="fr-FR" sz="1400" b="1" i="0" u="none" strike="noStrike" cap="none">
                <a:solidFill>
                  <a:srgbClr val="00717D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fr-FR" sz="1400" b="1" i="0" u="none" strike="noStrike" cap="none">
                <a:solidFill>
                  <a:srgbClr val="00717D"/>
                </a:solidFill>
                <a:latin typeface="Inter"/>
                <a:ea typeface="Inter"/>
                <a:cs typeface="Inter"/>
                <a:sym typeface="Inter"/>
              </a:rPr>
              <a:t>François MINARET</a:t>
            </a:r>
            <a:br>
              <a:rPr lang="fr-FR" sz="1400" b="1" i="0" u="none" strike="noStrike" cap="none">
                <a:solidFill>
                  <a:srgbClr val="00717D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fr-FR" sz="1400" b="1" i="0" u="none" strike="noStrike" cap="none">
                <a:solidFill>
                  <a:srgbClr val="00717D"/>
                </a:solidFill>
                <a:latin typeface="Inter"/>
                <a:ea typeface="Inter"/>
                <a:cs typeface="Inter"/>
                <a:sym typeface="Inter"/>
              </a:rPr>
              <a:t>Beno</a:t>
            </a:r>
            <a:r>
              <a:rPr lang="fr-FR" b="1">
                <a:solidFill>
                  <a:srgbClr val="00717D"/>
                </a:solidFill>
                <a:latin typeface="Inter"/>
                <a:ea typeface="Inter"/>
                <a:cs typeface="Inter"/>
                <a:sym typeface="Inter"/>
              </a:rPr>
              <a:t>î</a:t>
            </a:r>
            <a:r>
              <a:rPr lang="fr-FR" sz="1400" b="1" i="0" u="none" strike="noStrike" cap="none">
                <a:solidFill>
                  <a:srgbClr val="00717D"/>
                </a:solidFill>
                <a:latin typeface="Inter"/>
                <a:ea typeface="Inter"/>
                <a:cs typeface="Inter"/>
                <a:sym typeface="Inter"/>
              </a:rPr>
              <a:t>t PARADIS-CAMI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2577095" y="3536604"/>
            <a:ext cx="51541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2043" y="371552"/>
            <a:ext cx="577048" cy="38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2" descr="Une image contenant art, Monde, cercle, mosaïque&#10;&#10;Le contenu généré par l’IA peut être incorrect."/>
          <p:cNvPicPr preferRelativeResize="0"/>
          <p:nvPr/>
        </p:nvPicPr>
        <p:blipFill rotWithShape="1">
          <a:blip r:embed="rId3">
            <a:alphaModFix amt="25000"/>
          </a:blip>
          <a:srcRect/>
          <a:stretch/>
        </p:blipFill>
        <p:spPr>
          <a:xfrm>
            <a:off x="5131165" y="0"/>
            <a:ext cx="4900055" cy="495162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"/>
          <p:cNvSpPr txBox="1">
            <a:spLocks noGrp="1"/>
          </p:cNvSpPr>
          <p:nvPr>
            <p:ph type="ctrTitle" idx="4294967295"/>
          </p:nvPr>
        </p:nvSpPr>
        <p:spPr>
          <a:xfrm>
            <a:off x="1112276" y="297945"/>
            <a:ext cx="72288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2500" b="1" i="0" u="none" strike="noStrike" cap="non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Contexte  Générale</a:t>
            </a:r>
            <a:endParaRPr sz="2500" b="1" i="0" u="none" strike="noStrike" cap="non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3" name="Google Shape;63;p2"/>
          <p:cNvSpPr txBox="1">
            <a:spLocks noGrp="1"/>
          </p:cNvSpPr>
          <p:nvPr>
            <p:ph type="ctrTitle" idx="4294967295"/>
          </p:nvPr>
        </p:nvSpPr>
        <p:spPr>
          <a:xfrm>
            <a:off x="440755" y="921933"/>
            <a:ext cx="8703245" cy="3870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br>
              <a:rPr lang="fr-F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fr-F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fr-FR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fr-FR"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fr-FR" sz="1200" b="1" i="0" u="none" strike="noStrike" cap="none">
                <a:solidFill>
                  <a:srgbClr val="31333F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fr-FR"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fr-FR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fr-FR" sz="1200" b="0" i="0" u="none" strike="noStrike" cap="none">
                <a:solidFill>
                  <a:srgbClr val="31333F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fr-FR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fr-FR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 b="0" i="0" u="none" strike="noStrike" cap="none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64" name="Google Shape;64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2043" y="371552"/>
            <a:ext cx="577048" cy="385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 2" descr="Une image contenant texte, capture d’écran, Caractère coloré, diagramme&#10;&#10;Le contenu généré par l’IA peut être incorrect.">
            <a:extLst>
              <a:ext uri="{FF2B5EF4-FFF2-40B4-BE49-F238E27FC236}">
                <a16:creationId xmlns:a16="http://schemas.microsoft.com/office/drawing/2014/main" id="{7CDB853E-0691-BAD2-22E5-1EB3F4854E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567" y="1614632"/>
            <a:ext cx="6805250" cy="29644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 txBox="1">
            <a:spLocks noGrp="1"/>
          </p:cNvSpPr>
          <p:nvPr>
            <p:ph type="ctrTitle" idx="4294967295"/>
          </p:nvPr>
        </p:nvSpPr>
        <p:spPr>
          <a:xfrm>
            <a:off x="1116464" y="297955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2500" b="1" i="0" u="none" strike="noStrike" cap="non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Contexte </a:t>
            </a:r>
            <a:endParaRPr sz="2500" b="1" i="0" u="none" strike="noStrike" cap="non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2" name="Google Shape;72;p3" descr="Une image contenant art, Monde, cercle, mosaïque&#10;&#10;Le contenu généré par l’IA peut être incorrect."/>
          <p:cNvPicPr preferRelativeResize="0"/>
          <p:nvPr/>
        </p:nvPicPr>
        <p:blipFill rotWithShape="1">
          <a:blip r:embed="rId3">
            <a:alphaModFix amt="25000"/>
          </a:blip>
          <a:srcRect/>
          <a:stretch/>
        </p:blipFill>
        <p:spPr>
          <a:xfrm>
            <a:off x="5283565" y="152400"/>
            <a:ext cx="4900055" cy="495162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/>
          <p:cNvSpPr/>
          <p:nvPr/>
        </p:nvSpPr>
        <p:spPr>
          <a:xfrm>
            <a:off x="133075" y="2437575"/>
            <a:ext cx="7716000" cy="2234100"/>
          </a:xfrm>
          <a:prstGeom prst="roundRect">
            <a:avLst>
              <a:gd name="adj" fmla="val 16667"/>
            </a:avLst>
          </a:prstGeom>
          <a:solidFill>
            <a:srgbClr val="E4F7F9"/>
          </a:solidFill>
          <a:ln w="952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rgbClr val="00717D"/>
                </a:solidFill>
              </a:rPr>
              <a:t>Utilité du projet</a:t>
            </a:r>
            <a:br>
              <a:rPr lang="fr-FR"/>
            </a:br>
            <a:br>
              <a:rPr lang="fr-FR"/>
            </a:br>
            <a:r>
              <a:rPr lang="fr-FR"/>
              <a:t>- </a:t>
            </a:r>
            <a:r>
              <a:rPr lang="fr-FR" sz="1800">
                <a:solidFill>
                  <a:schemeClr val="dk1"/>
                </a:solidFill>
              </a:rPr>
              <a:t>Optimisation des coûts</a:t>
            </a:r>
            <a:br>
              <a:rPr lang="fr-FR" sz="1800">
                <a:solidFill>
                  <a:schemeClr val="dk1"/>
                </a:solidFill>
              </a:rPr>
            </a:br>
            <a:r>
              <a:rPr lang="fr-FR" sz="1800">
                <a:solidFill>
                  <a:schemeClr val="dk1"/>
                </a:solidFill>
              </a:rPr>
              <a:t>- Aide à la réduction des déchets</a:t>
            </a:r>
            <a:br>
              <a:rPr lang="fr-FR" sz="1800">
                <a:solidFill>
                  <a:schemeClr val="dk1"/>
                </a:solidFill>
              </a:rPr>
            </a:br>
            <a:r>
              <a:rPr lang="fr-FR" sz="1800">
                <a:solidFill>
                  <a:schemeClr val="dk1"/>
                </a:solidFill>
              </a:rPr>
              <a:t>- Appui pour les politiques publiques</a:t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237125" y="1145600"/>
            <a:ext cx="7462500" cy="870900"/>
          </a:xfrm>
          <a:prstGeom prst="flowChartAlternateProcess">
            <a:avLst/>
          </a:prstGeom>
          <a:solidFill>
            <a:srgbClr val="E4F7F9"/>
          </a:solidFill>
          <a:ln w="952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2000" b="1">
                <a:solidFill>
                  <a:schemeClr val="dk2"/>
                </a:solidFill>
              </a:rPr>
              <a:t>Notre client nous a sollicités pour concevoir un simulateur capable de prédire la quantité de déchets par département.</a:t>
            </a:r>
            <a:endParaRPr/>
          </a:p>
        </p:txBody>
      </p:sp>
      <p:pic>
        <p:nvPicPr>
          <p:cNvPr id="75" name="Google Shape;75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2043" y="371552"/>
            <a:ext cx="577048" cy="38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>
            <a:spLocks noGrp="1"/>
          </p:cNvSpPr>
          <p:nvPr>
            <p:ph type="ctrTitle" idx="4294967295"/>
          </p:nvPr>
        </p:nvSpPr>
        <p:spPr>
          <a:xfrm>
            <a:off x="1109885" y="297950"/>
            <a:ext cx="60765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2500" b="1" i="0" u="none" strike="noStrike" cap="non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Présentation des données  </a:t>
            </a:r>
            <a:endParaRPr sz="2500" b="1" i="0" u="none" strike="noStrike" cap="non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4419600" y="24193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572000" y="25717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4724400" y="27241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876800" y="28765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125825" y="1167525"/>
            <a:ext cx="4899900" cy="3796200"/>
          </a:xfrm>
          <a:prstGeom prst="flowChartAlternateProcess">
            <a:avLst/>
          </a:prstGeom>
          <a:solidFill>
            <a:srgbClr val="E4F7F9"/>
          </a:solidFill>
          <a:ln w="952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fr-FR" sz="1200" dirty="0"/>
            </a:br>
            <a:r>
              <a:rPr lang="fr-FR" sz="1800" b="1" dirty="0">
                <a:solidFill>
                  <a:srgbClr val="00717D"/>
                </a:solidFill>
              </a:rPr>
              <a:t>Constitution du </a:t>
            </a:r>
            <a:r>
              <a:rPr lang="fr-FR" sz="1800" b="1" dirty="0" err="1">
                <a:solidFill>
                  <a:srgbClr val="00717D"/>
                </a:solidFill>
              </a:rPr>
              <a:t>Dataset</a:t>
            </a:r>
            <a:br>
              <a:rPr lang="fr-FR" sz="1800" b="1" dirty="0">
                <a:solidFill>
                  <a:srgbClr val="00717D"/>
                </a:solidFill>
              </a:rPr>
            </a:br>
            <a:r>
              <a:rPr lang="fr-FR" sz="1800" b="1" dirty="0">
                <a:solidFill>
                  <a:srgbClr val="00717D"/>
                </a:solidFill>
              </a:rPr>
              <a:t>	</a:t>
            </a:r>
            <a:r>
              <a:rPr lang="fr-FR" sz="1800" dirty="0">
                <a:solidFill>
                  <a:schemeClr val="dk1"/>
                </a:solidFill>
              </a:rPr>
              <a:t>21 fichiers source ADEME/INSEE </a:t>
            </a:r>
            <a:br>
              <a:rPr lang="fr-FR" sz="1800" dirty="0">
                <a:solidFill>
                  <a:schemeClr val="dk1"/>
                </a:solidFill>
              </a:rPr>
            </a:br>
            <a:br>
              <a:rPr lang="fr-FR" sz="1800" dirty="0">
                <a:solidFill>
                  <a:schemeClr val="dk1"/>
                </a:solidFill>
              </a:rPr>
            </a:br>
            <a:r>
              <a:rPr lang="fr-FR" sz="1800" b="1" dirty="0" err="1">
                <a:solidFill>
                  <a:srgbClr val="00717D"/>
                </a:solidFill>
              </a:rPr>
              <a:t>Dataset</a:t>
            </a:r>
            <a:r>
              <a:rPr lang="fr-FR" sz="1800" b="1" dirty="0">
                <a:solidFill>
                  <a:srgbClr val="00717D"/>
                </a:solidFill>
              </a:rPr>
              <a:t> final </a:t>
            </a:r>
            <a:br>
              <a:rPr lang="fr-FR" sz="1800" b="1" dirty="0">
                <a:solidFill>
                  <a:srgbClr val="00717D"/>
                </a:solidFill>
              </a:rPr>
            </a:br>
            <a:r>
              <a:rPr lang="fr-FR" sz="1800" b="1" dirty="0">
                <a:solidFill>
                  <a:srgbClr val="00717D"/>
                </a:solidFill>
              </a:rPr>
              <a:t>	</a:t>
            </a:r>
            <a:r>
              <a:rPr lang="fr-FR" sz="1800" dirty="0">
                <a:solidFill>
                  <a:schemeClr val="dk1"/>
                </a:solidFill>
              </a:rPr>
              <a:t>672 lignes / 27 colonnes</a:t>
            </a:r>
            <a:br>
              <a:rPr lang="fr-FR" sz="1800" dirty="0">
                <a:solidFill>
                  <a:schemeClr val="dk1"/>
                </a:solidFill>
              </a:rPr>
            </a:br>
            <a:br>
              <a:rPr lang="fr-FR" sz="1800" dirty="0">
                <a:solidFill>
                  <a:schemeClr val="dk1"/>
                </a:solidFill>
              </a:rPr>
            </a:br>
            <a:r>
              <a:rPr lang="fr-FR" sz="1800" b="1" dirty="0">
                <a:solidFill>
                  <a:srgbClr val="00717D"/>
                </a:solidFill>
              </a:rPr>
              <a:t>Période étudiée </a:t>
            </a:r>
            <a:br>
              <a:rPr lang="fr-FR" sz="1800" b="1" dirty="0">
                <a:solidFill>
                  <a:srgbClr val="00717D"/>
                </a:solidFill>
              </a:rPr>
            </a:br>
            <a:r>
              <a:rPr lang="fr-FR" sz="1800" b="1" dirty="0">
                <a:solidFill>
                  <a:srgbClr val="00717D"/>
                </a:solidFill>
              </a:rPr>
              <a:t>	</a:t>
            </a:r>
            <a:r>
              <a:rPr lang="fr-FR" sz="1800" dirty="0">
                <a:solidFill>
                  <a:schemeClr val="dk1"/>
                </a:solidFill>
              </a:rPr>
              <a:t>Années impaires de 2009 à 2021</a:t>
            </a:r>
            <a:br>
              <a:rPr lang="fr-FR" sz="1800" dirty="0">
                <a:solidFill>
                  <a:schemeClr val="dk1"/>
                </a:solidFill>
              </a:rPr>
            </a:br>
            <a:br>
              <a:rPr lang="fr-FR" sz="1800" dirty="0">
                <a:solidFill>
                  <a:schemeClr val="dk1"/>
                </a:solidFill>
              </a:rPr>
            </a:br>
            <a:r>
              <a:rPr lang="fr-FR" sz="1800" b="1" dirty="0">
                <a:solidFill>
                  <a:srgbClr val="00717D"/>
                </a:solidFill>
              </a:rPr>
              <a:t>Territoire couvert </a:t>
            </a:r>
            <a:br>
              <a:rPr lang="fr-FR" sz="1800" b="1" dirty="0">
                <a:solidFill>
                  <a:srgbClr val="00717D"/>
                </a:solidFill>
              </a:rPr>
            </a:br>
            <a:r>
              <a:rPr lang="fr-FR" sz="1800" b="1" dirty="0">
                <a:solidFill>
                  <a:srgbClr val="00717D"/>
                </a:solidFill>
              </a:rPr>
              <a:t>	</a:t>
            </a:r>
            <a:r>
              <a:rPr lang="fr-FR" sz="1800" dirty="0">
                <a:solidFill>
                  <a:schemeClr val="dk1"/>
                </a:solidFill>
              </a:rPr>
              <a:t>96 départements (hors DOM-TOM)</a:t>
            </a:r>
            <a:endParaRPr dirty="0"/>
          </a:p>
        </p:txBody>
      </p:sp>
      <p:pic>
        <p:nvPicPr>
          <p:cNvPr id="86" name="Google Shape;86;p4" descr="Une image contenant art, Monde, cercle, mosaïque&#10;&#10;Le contenu généré par l’IA peut être incorrect."/>
          <p:cNvPicPr preferRelativeResize="0"/>
          <p:nvPr/>
        </p:nvPicPr>
        <p:blipFill rotWithShape="1">
          <a:blip r:embed="rId3">
            <a:alphaModFix amt="25000"/>
          </a:blip>
          <a:srcRect/>
          <a:stretch/>
        </p:blipFill>
        <p:spPr>
          <a:xfrm>
            <a:off x="5131165" y="0"/>
            <a:ext cx="4900055" cy="4951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2043" y="371552"/>
            <a:ext cx="577048" cy="38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5" descr="Une image contenant art, Monde, cercle, mosaïque&#10;&#10;Le contenu généré par l’IA peut être incorrect."/>
          <p:cNvPicPr preferRelativeResize="0"/>
          <p:nvPr/>
        </p:nvPicPr>
        <p:blipFill rotWithShape="1">
          <a:blip r:embed="rId3">
            <a:alphaModFix amt="25000"/>
          </a:blip>
          <a:srcRect/>
          <a:stretch/>
        </p:blipFill>
        <p:spPr>
          <a:xfrm>
            <a:off x="5131165" y="0"/>
            <a:ext cx="4900055" cy="495162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5"/>
          <p:cNvSpPr txBox="1">
            <a:spLocks noGrp="1"/>
          </p:cNvSpPr>
          <p:nvPr>
            <p:ph type="ctrTitle" idx="4294967295"/>
          </p:nvPr>
        </p:nvSpPr>
        <p:spPr>
          <a:xfrm>
            <a:off x="1105135" y="297950"/>
            <a:ext cx="60765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2500" b="1" i="0" u="none" strike="noStrike" cap="non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Présentation des données  </a:t>
            </a:r>
            <a:endParaRPr sz="2500" b="1" i="0" u="none" strike="noStrike" cap="non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94" name="Google Shape;94;p5"/>
          <p:cNvSpPr txBox="1">
            <a:spLocks noGrp="1"/>
          </p:cNvSpPr>
          <p:nvPr>
            <p:ph type="ctrTitle" idx="4294967295"/>
          </p:nvPr>
        </p:nvSpPr>
        <p:spPr>
          <a:xfrm>
            <a:off x="1" y="784575"/>
            <a:ext cx="9144000" cy="4007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br>
              <a:rPr lang="fr-F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fr-F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fr-FR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fr-FR" sz="14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</a:br>
            <a:br>
              <a:rPr lang="fr-FR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fr-FR"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fr-FR" sz="1200" b="1" i="0" u="none" strike="noStrike" cap="none">
                <a:solidFill>
                  <a:srgbClr val="31333F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fr-FR"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fr-FR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fr-FR" sz="1200" b="0" i="0" u="none" strike="noStrike" cap="none">
                <a:solidFill>
                  <a:srgbClr val="31333F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fr-FR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fr-FR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 b="0" i="0" u="none" strike="noStrike" cap="none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4419600" y="24193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4572000" y="25717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4724400" y="27241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4876800" y="28765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2043" y="371552"/>
            <a:ext cx="577048" cy="385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 4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5A0EA005-4B7A-78C8-8231-0941868A57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1812" y="858694"/>
            <a:ext cx="2341977" cy="1335762"/>
          </a:xfrm>
          <a:prstGeom prst="rect">
            <a:avLst/>
          </a:prstGeom>
        </p:spPr>
      </p:pic>
      <p:pic>
        <p:nvPicPr>
          <p:cNvPr id="7" name="Image 6" descr="Une image contenant texte, capture d’écran, diagramme, Caractère coloré&#10;&#10;Le contenu généré par l’IA peut être incorrect.">
            <a:extLst>
              <a:ext uri="{FF2B5EF4-FFF2-40B4-BE49-F238E27FC236}">
                <a16:creationId xmlns:a16="http://schemas.microsoft.com/office/drawing/2014/main" id="{ADB19450-DEAB-25BA-3C4F-F5F7A7588B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1812" y="2443200"/>
            <a:ext cx="2541400" cy="1660847"/>
          </a:xfrm>
          <a:prstGeom prst="rect">
            <a:avLst/>
          </a:prstGeom>
        </p:spPr>
      </p:pic>
      <p:pic>
        <p:nvPicPr>
          <p:cNvPr id="9" name="Image 8" descr="Une image contenant texte, capture d’écran, affichage, Rectangle&#10;&#10;Le contenu généré par l’IA peut être incorrect.">
            <a:extLst>
              <a:ext uri="{FF2B5EF4-FFF2-40B4-BE49-F238E27FC236}">
                <a16:creationId xmlns:a16="http://schemas.microsoft.com/office/drawing/2014/main" id="{3506C416-E006-C2BE-BC3F-C525B43349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63549" y="2406284"/>
            <a:ext cx="2712150" cy="1761739"/>
          </a:xfrm>
          <a:prstGeom prst="rect">
            <a:avLst/>
          </a:prstGeom>
        </p:spPr>
      </p:pic>
      <p:pic>
        <p:nvPicPr>
          <p:cNvPr id="11" name="Image 10" descr="Une image contenant texte, capture d’écran, diagramme, Rectangle&#10;&#10;Le contenu généré par l’IA peut être incorrect.">
            <a:extLst>
              <a:ext uri="{FF2B5EF4-FFF2-40B4-BE49-F238E27FC236}">
                <a16:creationId xmlns:a16="http://schemas.microsoft.com/office/drawing/2014/main" id="{9509AB69-E128-375A-53A8-6FE0F64D89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7032" y="2406283"/>
            <a:ext cx="2712152" cy="17617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6" descr="Une image contenant art, Monde, cercle, mosaïque&#10;&#10;Le contenu généré par l’IA peut être incorrect."/>
          <p:cNvPicPr preferRelativeResize="0"/>
          <p:nvPr/>
        </p:nvPicPr>
        <p:blipFill rotWithShape="1">
          <a:blip r:embed="rId3">
            <a:alphaModFix amt="25000"/>
          </a:blip>
          <a:srcRect/>
          <a:stretch/>
        </p:blipFill>
        <p:spPr>
          <a:xfrm>
            <a:off x="5131165" y="0"/>
            <a:ext cx="4900055" cy="495162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6"/>
          <p:cNvSpPr txBox="1">
            <a:spLocks noGrp="1"/>
          </p:cNvSpPr>
          <p:nvPr>
            <p:ph type="ctrTitle" idx="4294967295"/>
          </p:nvPr>
        </p:nvSpPr>
        <p:spPr>
          <a:xfrm>
            <a:off x="1113539" y="297955"/>
            <a:ext cx="73086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2500" b="1" i="0" u="none" strike="noStrike" cap="non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Analyse  </a:t>
            </a:r>
            <a:endParaRPr sz="2500" b="1" i="0" u="none" strike="noStrike" cap="non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12" name="Google Shape;112;p6"/>
          <p:cNvSpPr txBox="1">
            <a:spLocks noGrp="1"/>
          </p:cNvSpPr>
          <p:nvPr>
            <p:ph type="ctrTitle" idx="4294967295"/>
          </p:nvPr>
        </p:nvSpPr>
        <p:spPr>
          <a:xfrm>
            <a:off x="416205" y="923008"/>
            <a:ext cx="8703300" cy="3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br>
              <a:rPr lang="fr-F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fr-F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fr-FR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fr-FR"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fr-FR" sz="1200" b="1" i="0" u="none" strike="noStrike" cap="none">
                <a:solidFill>
                  <a:srgbClr val="31333F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fr-FR"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fr-FR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fr-FR" sz="1200" b="0" i="0" u="none" strike="noStrike" cap="none">
                <a:solidFill>
                  <a:srgbClr val="31333F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fr-FR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fr-FR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 b="0" i="0" u="none" strike="noStrike" cap="none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13" name="Google Shape;113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2043" y="371552"/>
            <a:ext cx="577048" cy="385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 2" descr="Une image contenant texte, capture d’écran, ligne, Police&#10;&#10;Le contenu généré par l’IA peut être incorrect.">
            <a:extLst>
              <a:ext uri="{FF2B5EF4-FFF2-40B4-BE49-F238E27FC236}">
                <a16:creationId xmlns:a16="http://schemas.microsoft.com/office/drawing/2014/main" id="{9E8EC3E6-BA13-ED3C-226D-506998EA02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044" y="1999690"/>
            <a:ext cx="6575628" cy="26452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7" descr="Une image contenant art, Monde, cercle, mosaïque&#10;&#10;Le contenu généré par l’IA peut être incorrect."/>
          <p:cNvPicPr preferRelativeResize="0"/>
          <p:nvPr/>
        </p:nvPicPr>
        <p:blipFill rotWithShape="1">
          <a:blip r:embed="rId3">
            <a:alphaModFix amt="25000"/>
          </a:blip>
          <a:srcRect/>
          <a:stretch/>
        </p:blipFill>
        <p:spPr>
          <a:xfrm>
            <a:off x="5131165" y="0"/>
            <a:ext cx="4900055" cy="495162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7"/>
          <p:cNvSpPr txBox="1"/>
          <p:nvPr/>
        </p:nvSpPr>
        <p:spPr>
          <a:xfrm>
            <a:off x="1096839" y="297951"/>
            <a:ext cx="59283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2500" b="1" i="0" u="none" strike="noStrike" cap="non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Modèle choisi OLS </a:t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4419600" y="24193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1404257" y="1144458"/>
            <a:ext cx="69162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 i="0" u="none" strike="noStrike" cap="none">
                <a:solidFill>
                  <a:srgbClr val="00717D"/>
                </a:solidFill>
                <a:latin typeface="Arial"/>
                <a:ea typeface="Arial"/>
                <a:cs typeface="Arial"/>
                <a:sym typeface="Arial"/>
              </a:rPr>
              <a:t>Performance d</a:t>
            </a:r>
            <a:r>
              <a:rPr lang="fr-FR" sz="1800" b="1">
                <a:solidFill>
                  <a:srgbClr val="00717D"/>
                </a:solidFill>
              </a:rPr>
              <a:t>u </a:t>
            </a:r>
            <a:r>
              <a:rPr lang="fr-FR" sz="1800" b="1" i="0" u="none" strike="noStrike" cap="none">
                <a:solidFill>
                  <a:srgbClr val="00717D"/>
                </a:solidFill>
                <a:latin typeface="Arial"/>
                <a:ea typeface="Arial"/>
                <a:cs typeface="Arial"/>
                <a:sym typeface="Arial"/>
              </a:rPr>
              <a:t>modèle par typologie de Déchets</a:t>
            </a:r>
            <a:endParaRPr/>
          </a:p>
        </p:txBody>
      </p:sp>
      <p:pic>
        <p:nvPicPr>
          <p:cNvPr id="125" name="Google Shape;125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2043" y="371552"/>
            <a:ext cx="577048" cy="385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 2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AD40B76D-1916-176E-50F0-B553D35CE0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" y="2364681"/>
            <a:ext cx="4515773" cy="15983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8" descr="Une image contenant art, Monde, cercle, mosaïque&#10;&#10;Le contenu généré par l’IA peut être incorrect."/>
          <p:cNvPicPr preferRelativeResize="0"/>
          <p:nvPr/>
        </p:nvPicPr>
        <p:blipFill rotWithShape="1">
          <a:blip r:embed="rId3">
            <a:alphaModFix amt="25000"/>
          </a:blip>
          <a:srcRect/>
          <a:stretch/>
        </p:blipFill>
        <p:spPr>
          <a:xfrm>
            <a:off x="5131165" y="0"/>
            <a:ext cx="4900055" cy="495162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8"/>
          <p:cNvSpPr txBox="1">
            <a:spLocks noGrp="1"/>
          </p:cNvSpPr>
          <p:nvPr>
            <p:ph type="title"/>
          </p:nvPr>
        </p:nvSpPr>
        <p:spPr>
          <a:xfrm>
            <a:off x="719091" y="218946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-FR" sz="2500" b="1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Présentation du simulateur</a:t>
            </a:r>
            <a:r>
              <a:rPr lang="fr-FR" dirty="0"/>
              <a:t> </a:t>
            </a:r>
            <a:endParaRPr dirty="0"/>
          </a:p>
        </p:txBody>
      </p:sp>
      <p:pic>
        <p:nvPicPr>
          <p:cNvPr id="133" name="Google Shape;133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2043" y="371552"/>
            <a:ext cx="577048" cy="38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 txBox="1">
            <a:spLocks noGrp="1"/>
          </p:cNvSpPr>
          <p:nvPr>
            <p:ph type="ctrTitle" idx="4294967295"/>
          </p:nvPr>
        </p:nvSpPr>
        <p:spPr>
          <a:xfrm>
            <a:off x="1092471" y="297961"/>
            <a:ext cx="76476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2500" b="1" i="0" u="none" strike="noStrike" cap="non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Pistes d’amélioration</a:t>
            </a:r>
            <a:br>
              <a:rPr lang="fr-FR" sz="2400" b="1" i="0" u="none" strike="noStrike" cap="none">
                <a:solidFill>
                  <a:srgbClr val="00717D"/>
                </a:solidFill>
                <a:latin typeface="Arial"/>
                <a:ea typeface="Arial"/>
                <a:cs typeface="Arial"/>
                <a:sym typeface="Arial"/>
              </a:rPr>
            </a:br>
            <a:endParaRPr sz="2500" b="1" i="0" u="none" strike="noStrike" cap="non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39" name="Google Shape;139;p9"/>
          <p:cNvSpPr txBox="1">
            <a:spLocks noGrp="1"/>
          </p:cNvSpPr>
          <p:nvPr>
            <p:ph type="ctrTitle" idx="4294967295"/>
          </p:nvPr>
        </p:nvSpPr>
        <p:spPr>
          <a:xfrm>
            <a:off x="851779" y="1226735"/>
            <a:ext cx="7647535" cy="2726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br>
              <a:rPr lang="fr-FR"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fr-FR" sz="1200" b="1" i="0" u="none" strike="noStrike" cap="none">
                <a:solidFill>
                  <a:srgbClr val="31333F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fr-FR" sz="1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fr-FR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fr-FR" sz="1200" b="0" i="0" u="none" strike="noStrike" cap="none">
                <a:solidFill>
                  <a:srgbClr val="31333F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fr-FR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fr-FR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 b="0" i="0" u="none" strike="noStrike" cap="none">
              <a:solidFill>
                <a:srgbClr val="4B525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40" name="Google Shape;140;p9" descr="Une image contenant art, Monde, cercle, mosaïque&#10;&#10;Le contenu généré par l’IA peut être incorrect."/>
          <p:cNvPicPr preferRelativeResize="0"/>
          <p:nvPr/>
        </p:nvPicPr>
        <p:blipFill rotWithShape="1">
          <a:blip r:embed="rId3">
            <a:alphaModFix amt="25000"/>
          </a:blip>
          <a:srcRect/>
          <a:stretch/>
        </p:blipFill>
        <p:spPr>
          <a:xfrm>
            <a:off x="5131165" y="0"/>
            <a:ext cx="4900055" cy="495162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9"/>
          <p:cNvSpPr/>
          <p:nvPr/>
        </p:nvSpPr>
        <p:spPr>
          <a:xfrm>
            <a:off x="342550" y="1260800"/>
            <a:ext cx="4789500" cy="3271800"/>
          </a:xfrm>
          <a:prstGeom prst="flowChartAlternateProcess">
            <a:avLst/>
          </a:prstGeom>
          <a:solidFill>
            <a:srgbClr val="E4F7F9"/>
          </a:solidFill>
          <a:ln w="952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fr-FR" sz="1800" b="1">
                <a:solidFill>
                  <a:srgbClr val="00717D"/>
                </a:solidFill>
              </a:rPr>
              <a:t>Données &amp; Modélisation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	</a:t>
            </a:r>
            <a:r>
              <a:rPr lang="fr-FR" sz="1800">
                <a:solidFill>
                  <a:schemeClr val="dk1"/>
                </a:solidFill>
              </a:rPr>
              <a:t>Variables externes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fr-FR" sz="1800">
                <a:solidFill>
                  <a:schemeClr val="dk1"/>
                </a:solidFill>
              </a:rPr>
              <a:t>	Données locales affinées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fr-FR" sz="1800">
                <a:solidFill>
                  <a:schemeClr val="dk1"/>
                </a:solidFill>
              </a:rPr>
              <a:t>	Modèles  séries-temporelles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br>
              <a:rPr lang="fr-FR">
                <a:solidFill>
                  <a:schemeClr val="dk1"/>
                </a:solidFill>
              </a:rPr>
            </a:br>
            <a:r>
              <a:rPr lang="fr-FR" sz="1800" b="1">
                <a:solidFill>
                  <a:srgbClr val="00717D"/>
                </a:solidFill>
              </a:rPr>
              <a:t> Application &amp; Visualisation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fr-FR">
                <a:solidFill>
                  <a:schemeClr val="dk1"/>
                </a:solidFill>
              </a:rPr>
              <a:t>	</a:t>
            </a:r>
            <a:r>
              <a:rPr lang="fr-FR" sz="1800">
                <a:solidFill>
                  <a:schemeClr val="dk1"/>
                </a:solidFill>
              </a:rPr>
              <a:t>UX simplifiée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fr-FR">
                <a:solidFill>
                  <a:schemeClr val="dk1"/>
                </a:solidFill>
              </a:rPr>
              <a:t>	</a:t>
            </a:r>
            <a:r>
              <a:rPr lang="fr-FR" sz="1800">
                <a:solidFill>
                  <a:schemeClr val="dk1"/>
                </a:solidFill>
              </a:rPr>
              <a:t>Cartographie interactives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fr-FR" sz="1800">
                <a:solidFill>
                  <a:schemeClr val="dk1"/>
                </a:solidFill>
              </a:rPr>
              <a:t>	Recommandations auto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br>
              <a:rPr lang="fr-FR">
                <a:solidFill>
                  <a:schemeClr val="dk1"/>
                </a:solidFill>
              </a:rPr>
            </a:br>
            <a:r>
              <a:rPr lang="fr-FR" b="1">
                <a:solidFill>
                  <a:schemeClr val="dk1"/>
                </a:solidFill>
              </a:rPr>
              <a:t> </a:t>
            </a:r>
            <a:r>
              <a:rPr lang="fr-FR" sz="1800" b="1">
                <a:solidFill>
                  <a:srgbClr val="00717D"/>
                </a:solidFill>
              </a:rPr>
              <a:t>Impact &amp; Validation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fr-FR">
                <a:solidFill>
                  <a:schemeClr val="dk1"/>
                </a:solidFill>
              </a:rPr>
              <a:t>	</a:t>
            </a:r>
            <a:r>
              <a:rPr lang="fr-FR" sz="1800">
                <a:solidFill>
                  <a:schemeClr val="dk1"/>
                </a:solidFill>
              </a:rPr>
              <a:t>Tests utilisateurs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2" name="Google Shape;14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2043" y="371552"/>
            <a:ext cx="577048" cy="38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>
            <a:spLocks noGrp="1"/>
          </p:cNvSpPr>
          <p:nvPr>
            <p:ph type="title"/>
          </p:nvPr>
        </p:nvSpPr>
        <p:spPr>
          <a:xfrm>
            <a:off x="1077664" y="29795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-FR" sz="2500" b="1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Conclusion</a:t>
            </a:r>
            <a:endParaRPr sz="2500" b="1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48" name="Google Shape;148;p10" descr="Une image contenant art, Monde, cercle, mosaïque&#10;&#10;Le contenu généré par l’IA peut être incorrect."/>
          <p:cNvPicPr preferRelativeResize="0"/>
          <p:nvPr/>
        </p:nvPicPr>
        <p:blipFill rotWithShape="1">
          <a:blip r:embed="rId3">
            <a:alphaModFix amt="25000"/>
          </a:blip>
          <a:srcRect/>
          <a:stretch/>
        </p:blipFill>
        <p:spPr>
          <a:xfrm>
            <a:off x="2028190" y="3134291"/>
            <a:ext cx="10176811" cy="7544339"/>
          </a:xfrm>
          <a:prstGeom prst="rect">
            <a:avLst/>
          </a:prstGeom>
          <a:noFill/>
          <a:ln w="952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9" name="Google Shape;149;p10"/>
          <p:cNvSpPr/>
          <p:nvPr/>
        </p:nvSpPr>
        <p:spPr>
          <a:xfrm>
            <a:off x="463375" y="1069600"/>
            <a:ext cx="6834300" cy="3594300"/>
          </a:xfrm>
          <a:prstGeom prst="flowChartAlternateProcess">
            <a:avLst/>
          </a:prstGeom>
          <a:solidFill>
            <a:srgbClr val="E4F7F9"/>
          </a:solidFill>
          <a:ln w="952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rgbClr val="00717D"/>
                </a:solidFill>
              </a:rPr>
              <a:t>Le simulateur GeoDéchet permet de mieux anticiper les volumes de déchets selon les territoires et les profils (CSP, population, secteurs d'activité…).</a:t>
            </a:r>
            <a:endParaRPr sz="1800" b="1">
              <a:solidFill>
                <a:srgbClr val="00717D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fr-FR" sz="1800" b="1">
                <a:solidFill>
                  <a:srgbClr val="00717D"/>
                </a:solidFill>
              </a:rPr>
            </a:br>
            <a:r>
              <a:rPr lang="fr-FR" sz="1800" b="1">
                <a:solidFill>
                  <a:srgbClr val="00717D"/>
                </a:solidFill>
              </a:rPr>
              <a:t>C’est un outil simple mais puissant pour mieux comprendre, mieux planifier la gestion des déchets. Il peut s’intégrer dans les politiques locales.</a:t>
            </a:r>
            <a:endParaRPr sz="1800" b="1">
              <a:solidFill>
                <a:srgbClr val="00717D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fr-FR" sz="1800" b="1">
                <a:solidFill>
                  <a:srgbClr val="00717D"/>
                </a:solidFill>
              </a:rPr>
            </a:br>
            <a:r>
              <a:rPr lang="fr-FR" sz="1800" b="1">
                <a:solidFill>
                  <a:srgbClr val="00717D"/>
                </a:solidFill>
              </a:rPr>
              <a:t>C’est un levier concret pour agir localement de façon plus durable.</a:t>
            </a:r>
            <a:endParaRPr sz="1800" b="1">
              <a:solidFill>
                <a:srgbClr val="00717D"/>
              </a:solidFill>
            </a:endParaRPr>
          </a:p>
        </p:txBody>
      </p:sp>
      <p:pic>
        <p:nvPicPr>
          <p:cNvPr id="150" name="Google Shape;150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2043" y="371552"/>
            <a:ext cx="577048" cy="38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BD0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>
            <a:spLocks noGrp="1"/>
          </p:cNvSpPr>
          <p:nvPr>
            <p:ph type="ctrTitle" idx="4294967295"/>
          </p:nvPr>
        </p:nvSpPr>
        <p:spPr>
          <a:xfrm>
            <a:off x="1085391" y="327148"/>
            <a:ext cx="75465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4000" b="1" i="0" u="none" strike="noStrike" cap="non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Merci pour</a:t>
            </a:r>
            <a:br>
              <a:rPr lang="fr-FR" sz="4000" b="1" i="0" u="none" strike="noStrike" cap="non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r>
              <a:rPr lang="fr-FR" sz="4000" b="1" i="0" u="none" strike="noStrike" cap="non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votre attention</a:t>
            </a:r>
            <a:endParaRPr sz="4000" b="1" i="0" u="none" strike="noStrike" cap="non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56" name="Google Shape;15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62" y="134196"/>
            <a:ext cx="576900" cy="385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1" descr="Une image contenant art, Monde, cercle, mosaïque&#10;&#10;Le contenu généré par l’IA peut être incorrect."/>
          <p:cNvPicPr preferRelativeResize="0"/>
          <p:nvPr/>
        </p:nvPicPr>
        <p:blipFill rotWithShape="1">
          <a:blip r:embed="rId4">
            <a:alphaModFix amt="58999"/>
          </a:blip>
          <a:srcRect/>
          <a:stretch/>
        </p:blipFill>
        <p:spPr>
          <a:xfrm>
            <a:off x="1825989" y="1104160"/>
            <a:ext cx="8078679" cy="8078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1449</Words>
  <Application>Microsoft Office PowerPoint</Application>
  <PresentationFormat>Affichage à l'écran (16:9)</PresentationFormat>
  <Paragraphs>97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8" baseType="lpstr">
      <vt:lpstr>Inter</vt:lpstr>
      <vt:lpstr>Inter Medium</vt:lpstr>
      <vt:lpstr>Courier New</vt:lpstr>
      <vt:lpstr>Arial</vt:lpstr>
      <vt:lpstr>Noto Sans Symbols</vt:lpstr>
      <vt:lpstr>Inter SemiBold</vt:lpstr>
      <vt:lpstr>Simple Light</vt:lpstr>
      <vt:lpstr>GeoDéchet</vt:lpstr>
      <vt:lpstr>Contexte  Générale</vt:lpstr>
      <vt:lpstr>Contexte </vt:lpstr>
      <vt:lpstr>Présentation des données  </vt:lpstr>
      <vt:lpstr>Présentation des données  </vt:lpstr>
      <vt:lpstr>Analyse  </vt:lpstr>
      <vt:lpstr>Présentation PowerPoint</vt:lpstr>
      <vt:lpstr>Présentation du simulateur </vt:lpstr>
      <vt:lpstr>Pistes d’amélioration </vt:lpstr>
      <vt:lpstr>Conclusion</vt:lpstr>
      <vt:lpstr>Merci pour votre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Nathalie DEVOGELAERE</dc:creator>
  <cp:lastModifiedBy>François MINARET</cp:lastModifiedBy>
  <cp:revision>1</cp:revision>
  <dcterms:modified xsi:type="dcterms:W3CDTF">2025-10-20T12:18:37Z</dcterms:modified>
</cp:coreProperties>
</file>